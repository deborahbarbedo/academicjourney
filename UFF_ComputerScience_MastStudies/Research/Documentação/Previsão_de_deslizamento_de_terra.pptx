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26"/>
  </p:notesMasterIdLst>
  <p:handoutMasterIdLst>
    <p:handoutMasterId r:id="rId27"/>
  </p:handoutMasterIdLst>
  <p:sldIdLst>
    <p:sldId id="256" r:id="rId5"/>
    <p:sldId id="261" r:id="rId6"/>
    <p:sldId id="271" r:id="rId7"/>
    <p:sldId id="295" r:id="rId8"/>
    <p:sldId id="296" r:id="rId9"/>
    <p:sldId id="312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5" r:id="rId18"/>
    <p:sldId id="306" r:id="rId19"/>
    <p:sldId id="307" r:id="rId20"/>
    <p:sldId id="308" r:id="rId21"/>
    <p:sldId id="309" r:id="rId22"/>
    <p:sldId id="289" r:id="rId23"/>
    <p:sldId id="311" r:id="rId24"/>
    <p:sldId id="276" r:id="rId2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1166" y="326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72C1599-78C3-49EE-B266-57A47B9C8940}" type="datetime1">
              <a:rPr lang="pt-BR" smtClean="0"/>
              <a:t>04/04/2023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238DB2-52FB-49CB-84D5-F3E8B8422193}" type="datetime1">
              <a:rPr lang="pt-BR" smtClean="0"/>
              <a:pPr/>
              <a:t>04/04/2023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352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2738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02734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53394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3559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8105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5795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88015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65159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32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8606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0048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46752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5237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15546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5165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67485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60173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42772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3859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7589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/>
              <a:t>Clique para editar o estilo do subtítulo Mestre</a:t>
            </a:r>
            <a:endParaRPr lang="pt-br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áfico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TÍTULO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pt-br"/>
              <a:t>CLIQUE PARA EDITAR OS ESTILOS DE TEXTO MESTRE</a:t>
            </a:r>
          </a:p>
        </p:txBody>
      </p:sp>
      <p:sp>
        <p:nvSpPr>
          <p:cNvPr id="17" name="Espaço Reservado para Texto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pt-br"/>
              <a:t>CLIQUE PARA EDITAR OS ESTILOS DE TEXTO MESTRE</a:t>
            </a:r>
          </a:p>
        </p:txBody>
      </p:sp>
      <p:sp>
        <p:nvSpPr>
          <p:cNvPr id="18" name="Espaço Reservado para Texto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pt-br"/>
              <a:t>CLIQUE PARA EDITAR OS ESTILOS DE TEXTO MESTRE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pt-br"/>
              <a:t>CLIQUE PARA EDITAR OS ESTILOS DE TEXTO MESTRE</a:t>
            </a:r>
          </a:p>
        </p:txBody>
      </p:sp>
      <p:sp>
        <p:nvSpPr>
          <p:cNvPr id="34" name="Espaço Reservado para Texto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pt-br"/>
              <a:t>Clique para editar os estilos de texto mestre</a:t>
            </a:r>
          </a:p>
        </p:txBody>
      </p:sp>
      <p:sp>
        <p:nvSpPr>
          <p:cNvPr id="35" name="Espaço Reservado para Texto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73328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pt-br"/>
              <a:t>Clique para editar os estilos de texto mestre</a:t>
            </a:r>
          </a:p>
        </p:txBody>
      </p:sp>
      <p:sp>
        <p:nvSpPr>
          <p:cNvPr id="36" name="Espaço Reservado para Texto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pt-br"/>
              <a:t>Clique para editar os estilos de texto mestre</a:t>
            </a:r>
          </a:p>
        </p:txBody>
      </p:sp>
      <p:sp>
        <p:nvSpPr>
          <p:cNvPr id="37" name="Espaço Reservado para Texto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pt-br"/>
              <a:t>Clique para editar os estilos de texto mestre</a:t>
            </a:r>
          </a:p>
        </p:txBody>
      </p:sp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pt-br"/>
              <a:t>Apresentação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1" name="Espaço Reservado para Texto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/>
              <a:t>CLIQUE PARA ADICIONAR UM SUBTÍTULO</a:t>
            </a:r>
          </a:p>
        </p:txBody>
      </p:sp>
      <p:sp>
        <p:nvSpPr>
          <p:cNvPr id="32" name="Espaço Reservado para Texto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3" name="Espaço Reservado para Texto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/>
              <a:t>CLIQUE PARA ADICIONAR UM SUBTÍTULO</a:t>
            </a:r>
          </a:p>
        </p:txBody>
      </p:sp>
      <p:sp>
        <p:nvSpPr>
          <p:cNvPr id="34" name="Espaço Reservado para Texto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2" name="Espaço Reservado para Texto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/>
              <a:t>CLIQUE PARA ADICIONAR UM SUBTÍTULO</a:t>
            </a:r>
          </a:p>
        </p:txBody>
      </p:sp>
      <p:sp>
        <p:nvSpPr>
          <p:cNvPr id="13" name="Espaço Reservado para Texto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pt-br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na do Conteúdo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  <p:sp>
        <p:nvSpPr>
          <p:cNvPr id="17" name="Espaço Reservado para Texto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6" name="Espaço Reservado para Texto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  <p:sp>
        <p:nvSpPr>
          <p:cNvPr id="18" name="Espaço Reservado para Texto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9" name="Espaço Reservado para Texto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  <p:sp>
        <p:nvSpPr>
          <p:cNvPr id="20" name="Espaço Reservado para Texto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23" name="Espaço Reservado para Texto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  <p:sp>
        <p:nvSpPr>
          <p:cNvPr id="24" name="Espaço Reservado para Texto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pPr rtl="0"/>
              <a:t>‹nº›</a:t>
            </a:fld>
            <a:endParaRPr lang="en-US" dirty="0"/>
          </a:p>
        </p:txBody>
      </p:sp>
      <p:pic>
        <p:nvPicPr>
          <p:cNvPr id="2" name="Gráfico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valo da Seçã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paço Reservado para Texto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  <p:sp>
        <p:nvSpPr>
          <p:cNvPr id="12" name="Espaço Reservado para Texto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3" name="Espaço Reservado para Texto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  <p:sp>
        <p:nvSpPr>
          <p:cNvPr id="14" name="Espaço Reservado para Texto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5" name="Espaço Reservado para Texto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  <p:sp>
        <p:nvSpPr>
          <p:cNvPr id="16" name="Espaço Reservado para Texto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17" name="Espaço Reservado para Data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18" name="Espaço Reservado para Rodapé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19" name="Espaço Reservado para o Número do Slide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ês Conteúdo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#</a:t>
            </a:r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#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5" name="Espaço Reservado para Conteúdo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6" name="Espaço Reservado para Conteúdo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7" name="Espaço Reservado para Conteúdo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Dois Conteúd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/>
              <a:t>Clique para editar os estilos de texto Mestres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  <a:endParaRPr lang="pt-br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áfico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20" name="Espaço Reservado para Texto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  <p:sp>
        <p:nvSpPr>
          <p:cNvPr id="25" name="Espaço Reservado para Texto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26" name="Espaço Reservado para Texto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  <p:sp>
        <p:nvSpPr>
          <p:cNvPr id="27" name="Espaço Reservado para Texto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28" name="Espaço Reservado para Texto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pt-br"/>
              <a:t>CLIQUE PARA ADICIONAR UM SUBTÍTULO</a:t>
            </a:r>
          </a:p>
        </p:txBody>
      </p:sp>
      <p:sp>
        <p:nvSpPr>
          <p:cNvPr id="29" name="Espaço Reservado para Texto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Clique para adicionar o texto</a:t>
            </a:r>
          </a:p>
        </p:txBody>
      </p: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15" name="Espaço Reservado para Texto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48749" y="1361938"/>
            <a:ext cx="6765925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7" name="Espaço Reservado para o Gráfico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286002"/>
            <a:ext cx="6094270" cy="3542143"/>
          </a:xfrm>
        </p:spPr>
        <p:txBody>
          <a:bodyPr rtlCol="0"/>
          <a:lstStyle/>
          <a:p>
            <a:pPr rtl="0"/>
            <a:r>
              <a:rPr lang="pt-BR"/>
              <a:t>Clique no ícone para adicionar gráfico</a:t>
            </a:r>
            <a:endParaRPr lang="pt-br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58125" y="2284624"/>
            <a:ext cx="3147332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858125" y="2779713"/>
            <a:ext cx="3148013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6" name="Espaço Reservado para Texto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Ano</a:t>
            </a:r>
            <a:endParaRPr lang="en-ZA"/>
          </a:p>
        </p:txBody>
      </p:sp>
      <p:sp>
        <p:nvSpPr>
          <p:cNvPr id="7" name="Espaço Reservado para Texto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8" name="Espaço Reservado para Texto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12" name="Espaço Reservado para Texto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13" name="Espaço Reservado para Texto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 dirty="0"/>
          </a:p>
        </p:txBody>
      </p:sp>
      <p:sp>
        <p:nvSpPr>
          <p:cNvPr id="14" name="Espaço Reservado para Texto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 dirty="0"/>
          </a:p>
        </p:txBody>
      </p:sp>
      <p:sp>
        <p:nvSpPr>
          <p:cNvPr id="16" name="Espaço Reservado para Texto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 dirty="0"/>
          </a:p>
        </p:txBody>
      </p:sp>
      <p:sp>
        <p:nvSpPr>
          <p:cNvPr id="17" name="Espaço Reservado para Texto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15" name="Espaço Reservado para Texto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18" name="Espaço Reservado para Texto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19" name="Espaço Reservado para Texto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11" name="Espaço Reservado para Texto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pt-br"/>
              <a:t>Ano</a:t>
            </a:r>
            <a:endParaRPr lang="en-ZA"/>
          </a:p>
        </p:txBody>
      </p:sp>
      <p:sp>
        <p:nvSpPr>
          <p:cNvPr id="20" name="Espaço Reservado para Texto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21" name="Espaço Reservado para Texto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22" name="Espaço Reservado para Texto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23" name="Espaço Reservado para Texto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24" name="Espaço Reservado para Texto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25" name="Espaço Reservado para Texto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26" name="Espaço Reservado para Texto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28" name="Espaço Reservado para Texto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29" name="Espaço Reservado para Texto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 dirty="0"/>
          </a:p>
        </p:txBody>
      </p:sp>
      <p:sp>
        <p:nvSpPr>
          <p:cNvPr id="27" name="Espaço Reservado para Texto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30" name="Espaço Reservado para Texto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31" name="Espaço Reservado para Texto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pt-br"/>
              <a:t>MM</a:t>
            </a:r>
            <a:endParaRPr lang="en-ZA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ZA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Espaço Reservado para Data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37" name="Espaço Reservado para Rodapé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38" name="Espaço Reservado para o Número do Slide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7" name="Espaço Reservado para SmartArt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9084"/>
            <a:ext cx="10515600" cy="3695338"/>
          </a:xfrm>
        </p:spPr>
        <p:txBody>
          <a:bodyPr rtlCol="0"/>
          <a:lstStyle/>
          <a:p>
            <a:pPr rtl="0"/>
            <a:r>
              <a:rPr lang="pt-BR"/>
              <a:t>Clique no ícone para adicionar elemento gráfico SmartArt</a:t>
            </a: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quipe Slide de 4 pessoa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11558" y="5084524"/>
            <a:ext cx="219661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  <a:endParaRPr lang="pt-br"/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707607" y="5099206"/>
            <a:ext cx="214504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pt-BR"/>
              <a:t>Clique no ícone para adicionar uma imagem</a:t>
            </a:r>
            <a:endParaRPr lang="pt-br"/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98271" y="5099206"/>
            <a:ext cx="2132985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pt-BR"/>
              <a:t>Clique no ícone para adicionar uma imagem</a:t>
            </a:r>
            <a:endParaRPr lang="pt-br"/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18152" y="5084524"/>
            <a:ext cx="213298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quipe Slide de 8 Pessoa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6" name="Espaço Reservado para Texto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17" name="Espaço Reservado para Imagem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pt-br"/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7" name="Espaço Reservado para Texto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18" name="Espaço Reservado para Imagem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pt-BR"/>
              <a:t>Clique no ícone para adicionar uma imagem</a:t>
            </a:r>
            <a:endParaRPr lang="pt-br"/>
          </a:p>
        </p:txBody>
      </p:sp>
      <p:sp>
        <p:nvSpPr>
          <p:cNvPr id="24" name="Espaço Reservado para Texto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19" name="Espaço Reservado para Imagem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pt-br"/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9" name="Espaço Reservado para Texto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55" name="Espaço Reservado para Imagem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pt-br"/>
          </a:p>
        </p:txBody>
      </p:sp>
      <p:sp>
        <p:nvSpPr>
          <p:cNvPr id="54" name="Espaço Reservado para Texto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62" name="Espaço Reservado para Texto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56" name="Espaço Reservado para Imagem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pt-br"/>
          </a:p>
        </p:txBody>
      </p:sp>
      <p:sp>
        <p:nvSpPr>
          <p:cNvPr id="59" name="Espaço Reservado para Texto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63" name="Espaço Reservado para Texto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57" name="Espaço Reservado para Imagem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pt-BR"/>
              <a:t>Clique no ícone para adicionar uma imagem</a:t>
            </a:r>
            <a:endParaRPr lang="pt-br"/>
          </a:p>
        </p:txBody>
      </p:sp>
      <p:sp>
        <p:nvSpPr>
          <p:cNvPr id="60" name="Espaço Reservado para Texto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64" name="Espaço Reservado para Texto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58" name="Espaço Reservado para Imagem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  <a:endParaRPr lang="pt-br"/>
          </a:p>
        </p:txBody>
      </p:sp>
      <p:sp>
        <p:nvSpPr>
          <p:cNvPr id="61" name="Espaço Reservado para Texto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65" name="Espaço Reservado para Texto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men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/>
              <a:t>Clique para adicionar conteúdo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#</a:t>
            </a:r>
          </a:p>
        </p:txBody>
      </p:sp>
      <p:sp>
        <p:nvSpPr>
          <p:cNvPr id="17" name="Espaço Reservado para Texto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4" name="Espaço Reservado para Conteúdo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1139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/>
              <a:t>Clique para adicionar conteúdo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#</a:t>
            </a:r>
          </a:p>
        </p:txBody>
      </p:sp>
      <p:sp>
        <p:nvSpPr>
          <p:cNvPr id="18" name="Espaço Reservado para Texto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/>
              <a:t>CLIQUE PARA EDITAR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5" name="Espaço Reservado para Conteúdo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24377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/>
              <a:t>Clique para adicionar conteúdo</a:t>
            </a:r>
          </a:p>
        </p:txBody>
      </p:sp>
      <p:sp>
        <p:nvSpPr>
          <p:cNvPr id="21" name="Espaço Reservado para Texto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#</a:t>
            </a:r>
          </a:p>
        </p:txBody>
      </p:sp>
      <p:sp>
        <p:nvSpPr>
          <p:cNvPr id="19" name="Espaço Reservado para Texto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22" name="Espaço Reservado para Conteúdo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26" name="Espaço Reservado para Conteúdo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118642"/>
            <a:ext cx="1856232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pt-br"/>
              <a:t>Clique para adicionar conteúdo</a:t>
            </a:r>
          </a:p>
        </p:txBody>
      </p:sp>
      <p:sp>
        <p:nvSpPr>
          <p:cNvPr id="14" name="Espaço Reservado para Texto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#</a:t>
            </a:r>
          </a:p>
        </p:txBody>
      </p:sp>
      <p:sp>
        <p:nvSpPr>
          <p:cNvPr id="23" name="Espaço Reservado para Texto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/>
              <a:t>CLIQUE PARA EDITAR</a:t>
            </a:r>
          </a:p>
        </p:txBody>
      </p:sp>
      <p:sp>
        <p:nvSpPr>
          <p:cNvPr id="15" name="Espaço Reservado para Conteúdo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9" name="Espaço Reservado para o Número do Slide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Resu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/>
              <a:t>Clique para editar os estilos de texto Mestres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spaço Reservado para Data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22" name="Espaço Reservado para Rodapé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24" name="Espaço Reservado para o Número do Slide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chamen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Espaço Reservado para Data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20XX</a:t>
            </a:r>
          </a:p>
        </p:txBody>
      </p:sp>
      <p:sp>
        <p:nvSpPr>
          <p:cNvPr id="10" name="Espaço Reservado para Rodapé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pt-BR" noProof="0"/>
              <a:t>Apresentação</a:t>
            </a:r>
          </a:p>
        </p:txBody>
      </p:sp>
      <p:sp>
        <p:nvSpPr>
          <p:cNvPr id="11" name="Espaço Reservado para o Número do Slide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 rtlCol="0"/>
          <a:lstStyle/>
          <a:p>
            <a:pPr rtl="0"/>
            <a:r>
              <a:rPr lang="pt-BR" dirty="0"/>
              <a:t>Previsão de deslizamento DE TERRA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 rtlCol="0"/>
          <a:lstStyle/>
          <a:p>
            <a:pPr rtl="0"/>
            <a:r>
              <a:rPr lang="pt-BR" dirty="0"/>
              <a:t>PDPA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779DE4-CAEA-4617-897E-FEC9A2AC2D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318" y="1481138"/>
            <a:ext cx="2141764" cy="5143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dirty="0"/>
              <a:t>Literatura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5FF1291-56EB-4A7B-A198-1D91F9ECC5D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4375" y="2557463"/>
            <a:ext cx="2141764" cy="514350"/>
          </a:xfrm>
        </p:spPr>
        <p:txBody>
          <a:bodyPr rtlCol="0"/>
          <a:lstStyle/>
          <a:p>
            <a:pPr rtl="0"/>
            <a:r>
              <a:rPr lang="pt-BR" dirty="0"/>
              <a:t>Atributos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184E21C-7534-4FB5-9709-F7D1A11034F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20800" y="3633788"/>
            <a:ext cx="2141764" cy="514350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C594564-4FC6-401A-8586-44735EE819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905000" y="4710114"/>
            <a:ext cx="2141764" cy="514350"/>
          </a:xfrm>
        </p:spPr>
        <p:txBody>
          <a:bodyPr rtlCol="0"/>
          <a:lstStyle/>
          <a:p>
            <a:pPr rtl="0"/>
            <a:r>
              <a:rPr lang="pt-BR" dirty="0"/>
              <a:t>Resultados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D7EB25CA-DA83-483D-AF83-0001BDF2DE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1535" y="1594478"/>
            <a:ext cx="5539095" cy="1010842"/>
          </a:xfrm>
        </p:spPr>
        <p:txBody>
          <a:bodyPr rtlCol="0"/>
          <a:lstStyle/>
          <a:p>
            <a:pPr rtl="0"/>
            <a:r>
              <a:rPr lang="pt-BR" dirty="0"/>
              <a:t>Os estudos que serviram como referência para a presente pesquisa.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B46CE8C6-E12D-4A0D-8553-7FFA31941D5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86028" y="2673328"/>
            <a:ext cx="5539095" cy="1010842"/>
          </a:xfrm>
        </p:spPr>
        <p:txBody>
          <a:bodyPr rtlCol="0"/>
          <a:lstStyle/>
          <a:p>
            <a:pPr rtl="0"/>
            <a:r>
              <a:rPr lang="pt-BR" dirty="0"/>
              <a:t>As variáveis comumente utilizadas nos artigos analisados.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1C7D5285-85DF-4331-A6FA-1AE847CA47A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576937" y="3755394"/>
            <a:ext cx="5539095" cy="1010842"/>
          </a:xfrm>
        </p:spPr>
        <p:txBody>
          <a:bodyPr rtlCol="0"/>
          <a:lstStyle/>
          <a:p>
            <a:pPr rtl="0"/>
            <a:r>
              <a:rPr lang="pt-BR" dirty="0"/>
              <a:t>Os modelos frequentemente empregados nos artigos examinados.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02D305EF-9A88-496B-BFC1-D589A01EE3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75279" y="4824430"/>
            <a:ext cx="5539095" cy="1010842"/>
          </a:xfrm>
        </p:spPr>
        <p:txBody>
          <a:bodyPr rtlCol="0"/>
          <a:lstStyle/>
          <a:p>
            <a:pPr rtl="0"/>
            <a:r>
              <a:rPr lang="pt-BR" dirty="0"/>
              <a:t>Os resultados obtidos nos experimentos realizados nos estudos investigados.</a:t>
            </a:r>
          </a:p>
        </p:txBody>
      </p:sp>
      <p:sp>
        <p:nvSpPr>
          <p:cNvPr id="80" name="Espaço Reservado para Rodapé 79">
            <a:extLst>
              <a:ext uri="{FF2B5EF4-FFF2-40B4-BE49-F238E27FC236}">
                <a16:creationId xmlns:a16="http://schemas.microsoft.com/office/drawing/2014/main" id="{81398ED2-66DB-46EA-8D89-B07A5C03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75279" y="6356350"/>
            <a:ext cx="1808712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13" name="Espaço Reservado para o Número do Slide 12">
            <a:extLst>
              <a:ext uri="{FF2B5EF4-FFF2-40B4-BE49-F238E27FC236}">
                <a16:creationId xmlns:a16="http://schemas.microsoft.com/office/drawing/2014/main" id="{E3984D70-BD95-4E1F-9725-902B5D74D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8561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71188AF-1B8F-40DD-90B1-DC0F52BA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lIns="0" rtlCol="0"/>
          <a:lstStyle/>
          <a:p>
            <a:pPr rtl="0"/>
            <a:r>
              <a:rPr lang="pt-BR" dirty="0"/>
              <a:t>Literatura</a:t>
            </a:r>
          </a:p>
        </p:txBody>
      </p:sp>
      <p:graphicFrame>
        <p:nvGraphicFramePr>
          <p:cNvPr id="53" name="Tabela 50">
            <a:extLst>
              <a:ext uri="{FF2B5EF4-FFF2-40B4-BE49-F238E27FC236}">
                <a16:creationId xmlns:a16="http://schemas.microsoft.com/office/drawing/2014/main" id="{7EB17215-3702-4854-86F9-086DB8BCA17E}"/>
              </a:ext>
            </a:extLst>
          </p:cNvPr>
          <p:cNvGraphicFramePr>
            <a:graphicFrameLocks noGrp="1"/>
          </p:cNvGraphicFramePr>
          <p:nvPr>
            <p:ph type="chart" sz="quarter" idx="13"/>
            <p:extLst>
              <p:ext uri="{D42A27DB-BD31-4B8C-83A1-F6EECF244321}">
                <p14:modId xmlns:p14="http://schemas.microsoft.com/office/powerpoint/2010/main" val="2197536997"/>
              </p:ext>
            </p:extLst>
          </p:nvPr>
        </p:nvGraphicFramePr>
        <p:xfrm>
          <a:off x="800099" y="1278088"/>
          <a:ext cx="10591802" cy="4343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8315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3677823">
                  <a:extLst>
                    <a:ext uri="{9D8B030D-6E8A-4147-A177-3AD203B41FA5}">
                      <a16:colId xmlns:a16="http://schemas.microsoft.com/office/drawing/2014/main" val="2284043154"/>
                    </a:ext>
                  </a:extLst>
                </a:gridCol>
                <a:gridCol w="754836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  <a:gridCol w="1140828">
                  <a:extLst>
                    <a:ext uri="{9D8B030D-6E8A-4147-A177-3AD203B41FA5}">
                      <a16:colId xmlns:a16="http://schemas.microsoft.com/office/drawing/2014/main" val="1068233346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Nome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Título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Ano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Estrato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61037"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Predição de Escorregamentos de Encostas baseada em Aprendizado de Máquina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Anais da XXI Escola Regional de Computação Bahia, Alagoas e Sergipe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70778"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Análise de dados pluviométricos para a prevenção de riscos de instabilidade de encostas no município de Niterói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Revista Ibero-Americana de Humanidades, Ciências e Educação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437055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 assessment on the use of logistic regression and artificial neural networks with different sampling strategies for the preparation of landslide susceptibility maps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 Geology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2008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A1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6103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Spatial statistical modeling of shallow landslides—Validating predictions for different landslide inventories and rainfall events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Geomorphology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A1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189663"/>
                  </a:ext>
                </a:extLst>
              </a:tr>
              <a:tr h="210874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Landslide susceptibility assessment using SVM machine learning algorithm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Engineering Geology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A1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  <a:tr h="255269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Prediction of the landslide susceptibility: Which algorithm, which precision?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Catena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2018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A1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343329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Landslide Susceptibility Assessment by Novel Hybrid Machine Learning Algorithms.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Sustainability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2019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A1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637558"/>
                  </a:ext>
                </a:extLst>
              </a:tr>
              <a:tr h="388452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spatio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-temporal LSTM model to forecast across multiple temporal and spatial</a:t>
                      </a:r>
                      <a:b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scales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Ecological Informatics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A1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742485"/>
                  </a:ext>
                </a:extLst>
              </a:tr>
              <a:tr h="233071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Data Based Model to PredictLandslide Induced by Rainfall in Riode Janeiro City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Geotechnical and Geological Engineering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2011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A2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860975"/>
                  </a:ext>
                </a:extLst>
              </a:tr>
              <a:tr h="389806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Rainfall-Induced Landslide Prediction Using Machine Learning Models: The Case of Ngororero District, Rwanda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International Journal of Environmental Research and Public Health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2020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A2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121222"/>
                  </a:ext>
                </a:extLst>
              </a:tr>
              <a:tr h="265013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Hybrid Landslide Warning Model Coupling Susceptibility Zoning and Precipitation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Forests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A2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123171"/>
                  </a:ext>
                </a:extLst>
              </a:tr>
              <a:tr h="464737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Landslide Displacement Prediction With Gated Recurrent Unit and Spatial-Temporal Correlation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Frontiers in Earth Science 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2022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A2</a:t>
                      </a:r>
                    </a:p>
                  </a:txBody>
                  <a:tcPr marL="7620" marR="7620" marT="762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258672"/>
                  </a:ext>
                </a:extLst>
              </a:tr>
            </a:tbl>
          </a:graphicData>
        </a:graphic>
      </p:graphicFrame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02600B4-5BE8-447C-8531-6CD75CB4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17076FA-2B16-4A6F-9631-8D175CE78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7088B044-C125-4F21-B6E1-ECBEB976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 dirty="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98F823A-E7BB-4668-930B-C119B7771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0178143" y="0"/>
            <a:ext cx="2013857" cy="14151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173C4F3-0B20-4720-9910-82CE4DCE4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752114" y="0"/>
            <a:ext cx="3439886" cy="57694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935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Atributos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522" y="2140177"/>
            <a:ext cx="5789478" cy="823912"/>
          </a:xfrm>
        </p:spPr>
        <p:txBody>
          <a:bodyPr rtlCol="0"/>
          <a:lstStyle/>
          <a:p>
            <a:pPr algn="ctr" rtl="0"/>
            <a:r>
              <a:rPr lang="pt-BR" dirty="0"/>
              <a:t>Citados em Artigos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85156" y="3418114"/>
            <a:ext cx="2882475" cy="29273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 noProof="1"/>
              <a:t>Ângulo de inclinação</a:t>
            </a:r>
          </a:p>
          <a:p>
            <a:pPr rtl="0"/>
            <a:r>
              <a:rPr lang="pt-BR" noProof="1"/>
              <a:t>Curvatura Vertical</a:t>
            </a:r>
          </a:p>
          <a:p>
            <a:pPr rtl="0"/>
            <a:r>
              <a:rPr lang="pt-BR" noProof="1"/>
              <a:t>Uso do solo</a:t>
            </a:r>
          </a:p>
          <a:p>
            <a:pPr rtl="0"/>
            <a:r>
              <a:rPr lang="pt-BR" noProof="1"/>
              <a:t>Curvatura Horizontal</a:t>
            </a:r>
          </a:p>
          <a:p>
            <a:pPr rtl="0"/>
            <a:r>
              <a:rPr lang="pt-BR" noProof="1"/>
              <a:t>Altitude</a:t>
            </a:r>
          </a:p>
          <a:p>
            <a:pPr rtl="0"/>
            <a:r>
              <a:rPr lang="pt-BR" noProof="1"/>
              <a:t>Talude</a:t>
            </a:r>
          </a:p>
          <a:p>
            <a:pPr rtl="0"/>
            <a:r>
              <a:rPr lang="pt-BR" noProof="1"/>
              <a:t>Ocupação do solo</a:t>
            </a:r>
          </a:p>
          <a:p>
            <a:pPr rtl="0"/>
            <a:r>
              <a:rPr lang="pt-BR" noProof="1"/>
              <a:t>Precipitação diária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2140177"/>
            <a:ext cx="5789478" cy="823912"/>
          </a:xfrm>
        </p:spPr>
        <p:txBody>
          <a:bodyPr rtlCol="0"/>
          <a:lstStyle/>
          <a:p>
            <a:pPr algn="ctr" rtl="0"/>
            <a:r>
              <a:rPr lang="pt-BR" dirty="0"/>
              <a:t>Não citados em Artigos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6423" y="3458483"/>
            <a:ext cx="2896671" cy="2403473"/>
          </a:xfrm>
        </p:spPr>
        <p:txBody>
          <a:bodyPr rtlCol="0"/>
          <a:lstStyle/>
          <a:p>
            <a:pPr rtl="0"/>
            <a:r>
              <a:rPr lang="pt-BR" dirty="0"/>
              <a:t>Vegetação</a:t>
            </a:r>
          </a:p>
          <a:p>
            <a:pPr rtl="0"/>
            <a:r>
              <a:rPr lang="pt-BR" dirty="0"/>
              <a:t>Solo</a:t>
            </a:r>
          </a:p>
          <a:p>
            <a:pPr rtl="0"/>
            <a:r>
              <a:rPr lang="pt-BR" dirty="0"/>
              <a:t>Defesa Civil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0674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12B089-A8F9-45B1-BE6E-EAC10163F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69966"/>
            <a:ext cx="2882475" cy="823912"/>
          </a:xfrm>
        </p:spPr>
        <p:txBody>
          <a:bodyPr rtlCol="0"/>
          <a:lstStyle/>
          <a:p>
            <a:pPr algn="ctr" rtl="0"/>
            <a:r>
              <a:rPr lang="pt-BR" dirty="0"/>
              <a:t>Citados frequentemente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2922025"/>
            <a:ext cx="2882475" cy="32501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 noProof="1"/>
              <a:t>Floresta de decisão</a:t>
            </a:r>
          </a:p>
          <a:p>
            <a:pPr rtl="0"/>
            <a:r>
              <a:rPr lang="pt-BR" noProof="1"/>
              <a:t>Regressão Logística</a:t>
            </a:r>
          </a:p>
          <a:p>
            <a:pPr rtl="0"/>
            <a:r>
              <a:rPr lang="pt-BR" noProof="1"/>
              <a:t>Redes neurais</a:t>
            </a:r>
          </a:p>
          <a:p>
            <a:pPr rtl="0"/>
            <a:r>
              <a:rPr lang="pt-BR" noProof="1"/>
              <a:t>Naive Bayes (NB)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rtlCol="0"/>
          <a:lstStyle/>
          <a:p>
            <a:pPr algn="ctr" rtl="0"/>
            <a:r>
              <a:rPr lang="pt-BR" dirty="0"/>
              <a:t>Citados nos artigos de estudo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E1C399-8F48-44F5-9461-3C89866D4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720677" y="2922024"/>
            <a:ext cx="4432723" cy="3434326"/>
          </a:xfrm>
        </p:spPr>
        <p:txBody>
          <a:bodyPr numCol="3" rtlCol="0">
            <a:normAutofit/>
          </a:bodyPr>
          <a:lstStyle/>
          <a:p>
            <a:pPr rtl="0"/>
            <a:r>
              <a:rPr lang="pt-BR" dirty="0"/>
              <a:t>Análise discriminante quadrática (QDA)</a:t>
            </a:r>
          </a:p>
          <a:p>
            <a:pPr rtl="0"/>
            <a:r>
              <a:rPr lang="pt-BR" dirty="0"/>
              <a:t>Árvores de classificação e regressão</a:t>
            </a:r>
          </a:p>
          <a:p>
            <a:pPr rtl="0"/>
            <a:r>
              <a:rPr lang="pt-BR" dirty="0"/>
              <a:t>Árvores de decisão</a:t>
            </a:r>
          </a:p>
          <a:p>
            <a:pPr rtl="0"/>
            <a:r>
              <a:rPr lang="pt-BR" dirty="0" err="1"/>
              <a:t>Boosted</a:t>
            </a:r>
            <a:r>
              <a:rPr lang="pt-BR" dirty="0"/>
              <a:t> </a:t>
            </a:r>
            <a:r>
              <a:rPr lang="pt-BR" dirty="0" err="1"/>
              <a:t>regression</a:t>
            </a:r>
            <a:r>
              <a:rPr lang="pt-BR" dirty="0"/>
              <a:t> </a:t>
            </a:r>
            <a:r>
              <a:rPr lang="pt-BR" dirty="0" err="1"/>
              <a:t>tree</a:t>
            </a:r>
            <a:endParaRPr lang="pt-BR" dirty="0"/>
          </a:p>
          <a:p>
            <a:pPr rtl="0"/>
            <a:r>
              <a:rPr lang="pt-BR" dirty="0"/>
              <a:t>Fractal Model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Antecedent</a:t>
            </a:r>
            <a:r>
              <a:rPr lang="pt-BR" dirty="0"/>
              <a:t> </a:t>
            </a:r>
            <a:r>
              <a:rPr lang="pt-BR" dirty="0" err="1"/>
              <a:t>Effective</a:t>
            </a:r>
            <a:r>
              <a:rPr lang="pt-BR" dirty="0"/>
              <a:t> </a:t>
            </a:r>
            <a:r>
              <a:rPr lang="pt-BR" dirty="0" err="1"/>
              <a:t>Precipitation</a:t>
            </a:r>
            <a:endParaRPr lang="pt-BR" dirty="0"/>
          </a:p>
          <a:p>
            <a:pPr rtl="0"/>
            <a:r>
              <a:rPr lang="pt-BR" dirty="0"/>
              <a:t>GRU</a:t>
            </a:r>
          </a:p>
          <a:p>
            <a:pPr rtl="0"/>
            <a:r>
              <a:rPr lang="pt-BR" dirty="0"/>
              <a:t>LSTM</a:t>
            </a:r>
          </a:p>
          <a:p>
            <a:pPr rtl="0"/>
            <a:r>
              <a:rPr lang="pt-BR" dirty="0"/>
              <a:t>SVM</a:t>
            </a:r>
          </a:p>
          <a:p>
            <a:pPr rtl="0"/>
            <a:r>
              <a:rPr lang="pt-BR" dirty="0"/>
              <a:t>Modelo aditivo generalizado</a:t>
            </a:r>
          </a:p>
          <a:p>
            <a:pPr rtl="0"/>
            <a:r>
              <a:rPr lang="pt-BR" dirty="0"/>
              <a:t>Modelo linear generalizado</a:t>
            </a:r>
          </a:p>
          <a:p>
            <a:pPr rtl="0"/>
            <a:r>
              <a:rPr lang="pt-BR" dirty="0" err="1"/>
              <a:t>Perceptron</a:t>
            </a:r>
            <a:r>
              <a:rPr lang="pt-BR" dirty="0"/>
              <a:t> Multicamadas</a:t>
            </a:r>
          </a:p>
          <a:p>
            <a:pPr rtl="0"/>
            <a:r>
              <a:rPr lang="pt-BR" dirty="0"/>
              <a:t>Regra de Associação</a:t>
            </a:r>
          </a:p>
          <a:p>
            <a:pPr rtl="0"/>
            <a:r>
              <a:rPr lang="pt-BR" dirty="0" err="1"/>
              <a:t>Splines</a:t>
            </a:r>
            <a:r>
              <a:rPr lang="pt-BR" dirty="0"/>
              <a:t> de regressão adaptativa multivariada (MARS)</a:t>
            </a:r>
          </a:p>
          <a:p>
            <a:pPr rtl="0"/>
            <a:r>
              <a:rPr lang="pt-BR" dirty="0" err="1"/>
              <a:t>Threshold</a:t>
            </a:r>
            <a:r>
              <a:rPr lang="pt-BR" dirty="0"/>
              <a:t> Model </a:t>
            </a:r>
            <a:r>
              <a:rPr lang="pt-BR" dirty="0" err="1"/>
              <a:t>Based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</a:t>
            </a:r>
            <a:r>
              <a:rPr lang="pt-BR" dirty="0" err="1"/>
              <a:t>Susceptibility</a:t>
            </a:r>
            <a:r>
              <a:rPr lang="pt-BR" dirty="0"/>
              <a:t> </a:t>
            </a:r>
            <a:r>
              <a:rPr lang="pt-BR" dirty="0" err="1"/>
              <a:t>Zoning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Antecedent</a:t>
            </a:r>
            <a:r>
              <a:rPr lang="pt-BR" dirty="0"/>
              <a:t> </a:t>
            </a:r>
            <a:r>
              <a:rPr lang="pt-BR" dirty="0" err="1"/>
              <a:t>Effective</a:t>
            </a:r>
            <a:r>
              <a:rPr lang="pt-BR" dirty="0"/>
              <a:t> </a:t>
            </a:r>
            <a:r>
              <a:rPr lang="pt-BR" dirty="0" err="1"/>
              <a:t>Precipitation</a:t>
            </a:r>
            <a:endParaRPr lang="pt-BR" dirty="0"/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CF515C5D-2CDB-4E66-B2B8-1451BC44247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8471325" y="1869966"/>
            <a:ext cx="2882475" cy="8239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rtl="0"/>
            <a:r>
              <a:rPr lang="pt-BR" dirty="0"/>
              <a:t>testados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E92B9716-8D44-4864-8986-720957B3436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71325" y="2922023"/>
            <a:ext cx="2882475" cy="3434327"/>
          </a:xfrm>
        </p:spPr>
        <p:txBody>
          <a:bodyPr rtlCol="0"/>
          <a:lstStyle/>
          <a:p>
            <a:pPr rtl="0"/>
            <a:r>
              <a:rPr lang="pt-BR" dirty="0"/>
              <a:t>Árvore de Decisão</a:t>
            </a:r>
          </a:p>
          <a:p>
            <a:pPr rtl="0"/>
            <a:r>
              <a:rPr lang="pt-BR" dirty="0"/>
              <a:t>Floresta de Decisão</a:t>
            </a:r>
          </a:p>
          <a:p>
            <a:pPr rtl="0"/>
            <a:r>
              <a:rPr lang="pt-BR" dirty="0" err="1"/>
              <a:t>XGboosting</a:t>
            </a:r>
            <a:endParaRPr lang="pt-BR" dirty="0"/>
          </a:p>
          <a:p>
            <a:pPr rtl="0"/>
            <a:r>
              <a:rPr lang="pt-BR" dirty="0"/>
              <a:t>LSTM</a:t>
            </a:r>
          </a:p>
          <a:p>
            <a:pPr rtl="0"/>
            <a:endParaRPr lang="pt-BR" dirty="0"/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4126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6B35F89A-6CDF-41F7-BD87-18B45BD73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2693878"/>
            <a:ext cx="10515600" cy="36624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Modelos Árvore de Decisão, Floresta de Decisão e </a:t>
            </a:r>
            <a:r>
              <a:rPr lang="pt-BR" b="1" i="0" dirty="0" err="1">
                <a:solidFill>
                  <a:srgbClr val="374151"/>
                </a:solidFill>
                <a:effectLst/>
                <a:latin typeface="Söhne"/>
              </a:rPr>
              <a:t>Xgboosting</a:t>
            </a:r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:</a:t>
            </a: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treinamento e teste desses modelos foram realizados em janela deslizante.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resultado apresentado corresponde à última janela adotada, enquanto o treino e validação foram feitos no período entre novembro de 2018 e dezembro de 2021.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teste fora do tempo de treinamento ocorreu entre dezembro de 2021 e fevereiro de 2022.</a:t>
            </a:r>
          </a:p>
          <a:p>
            <a:pPr algn="l"/>
            <a:r>
              <a:rPr lang="pt-BR" b="1" i="0" dirty="0">
                <a:solidFill>
                  <a:srgbClr val="374151"/>
                </a:solidFill>
                <a:effectLst/>
                <a:latin typeface="Söhne"/>
              </a:rPr>
              <a:t>Modelo LSTM:</a:t>
            </a: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LSTM possui uma estrutura completamente diferente dos modelos anteriores.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Os dados utilizados para o treinamento foram do período de fevereiro de 2019 a fevereiro de 2021.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período de fevereiro a agosto de 2021 foi usado para a validação.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Já o período de agosto de 2021 a fevereiro de 2022 foi reservado para o teste.</a:t>
            </a:r>
          </a:p>
          <a:p>
            <a:pPr rtl="0"/>
            <a:r>
              <a:rPr lang="pt-BR" dirty="0"/>
              <a:t>  </a:t>
            </a:r>
            <a:endParaRPr lang="pt-BR" noProof="1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rtlCol="0"/>
          <a:lstStyle/>
          <a:p>
            <a:pPr algn="ctr" rtl="0"/>
            <a:r>
              <a:rPr lang="pt-BR" dirty="0"/>
              <a:t>Das separações das amostras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251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rtlCol="0"/>
          <a:lstStyle/>
          <a:p>
            <a:pPr algn="ctr"/>
            <a:r>
              <a:rPr lang="pt-BR" dirty="0"/>
              <a:t>Árvore de Decisão 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 dirty="0"/>
          </a:p>
        </p:txBody>
      </p:sp>
      <p:sp>
        <p:nvSpPr>
          <p:cNvPr id="22" name="Espaço Reservado para Conteúdo 6">
            <a:extLst>
              <a:ext uri="{FF2B5EF4-FFF2-40B4-BE49-F238E27FC236}">
                <a16:creationId xmlns:a16="http://schemas.microsoft.com/office/drawing/2014/main" id="{09C0BF0F-D768-092D-95F2-836CEA79D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2922025"/>
            <a:ext cx="10515600" cy="32501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modelo foi o primeiro a ser testado para verificar o comportamento das variáveis.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Foi observado que a indicação de comunidades era muito forte no modelo, o que levou à separação em dois modelos distintos: um com e outro sem comunidade.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Foi adotado o método de janela deslizante para criar um modelo preditivo para cada janela e acompanhar a sua evolução.</a:t>
            </a:r>
          </a:p>
        </p:txBody>
      </p:sp>
    </p:spTree>
    <p:extLst>
      <p:ext uri="{BB962C8B-B14F-4D97-AF65-F5344CB8AC3E}">
        <p14:creationId xmlns:p14="http://schemas.microsoft.com/office/powerpoint/2010/main" val="46040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rtlCol="0"/>
          <a:lstStyle/>
          <a:p>
            <a:pPr algn="ctr"/>
            <a:r>
              <a:rPr lang="pt-BR" dirty="0"/>
              <a:t>Árvore de Decisão 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 dirty="0"/>
          </a:p>
        </p:txBody>
      </p:sp>
      <p:sp>
        <p:nvSpPr>
          <p:cNvPr id="5" name="Espaço Reservado para Texto 5">
            <a:extLst>
              <a:ext uri="{FF2B5EF4-FFF2-40B4-BE49-F238E27FC236}">
                <a16:creationId xmlns:a16="http://schemas.microsoft.com/office/drawing/2014/main" id="{639DB63B-D73F-9785-6DDC-F54FF9E40315}"/>
              </a:ext>
            </a:extLst>
          </p:cNvPr>
          <p:cNvSpPr txBox="1">
            <a:spLocks/>
          </p:cNvSpPr>
          <p:nvPr/>
        </p:nvSpPr>
        <p:spPr>
          <a:xfrm>
            <a:off x="6955971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fora do tempo de treinamento</a:t>
            </a:r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B208C73B-C417-B000-7722-D8160582DF09}"/>
              </a:ext>
            </a:extLst>
          </p:cNvPr>
          <p:cNvSpPr txBox="1">
            <a:spLocks/>
          </p:cNvSpPr>
          <p:nvPr/>
        </p:nvSpPr>
        <p:spPr>
          <a:xfrm>
            <a:off x="728808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dentro do tempo de treinamento</a:t>
            </a:r>
          </a:p>
        </p:txBody>
      </p:sp>
      <p:graphicFrame>
        <p:nvGraphicFramePr>
          <p:cNvPr id="13" name="Tabela 50">
            <a:extLst>
              <a:ext uri="{FF2B5EF4-FFF2-40B4-BE49-F238E27FC236}">
                <a16:creationId xmlns:a16="http://schemas.microsoft.com/office/drawing/2014/main" id="{4DF54C6F-563E-475B-D83B-51B4EB7610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4711675"/>
              </p:ext>
            </p:extLst>
          </p:nvPr>
        </p:nvGraphicFramePr>
        <p:xfrm>
          <a:off x="120831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  <p:graphicFrame>
        <p:nvGraphicFramePr>
          <p:cNvPr id="15" name="Tabela 50">
            <a:extLst>
              <a:ext uri="{FF2B5EF4-FFF2-40B4-BE49-F238E27FC236}">
                <a16:creationId xmlns:a16="http://schemas.microsoft.com/office/drawing/2014/main" id="{7D5CE047-74AA-8519-ACD1-A04C982C09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4756271"/>
              </p:ext>
            </p:extLst>
          </p:nvPr>
        </p:nvGraphicFramePr>
        <p:xfrm>
          <a:off x="756364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7954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rtlCol="0"/>
          <a:lstStyle/>
          <a:p>
            <a:pPr algn="ctr"/>
            <a:r>
              <a:rPr lang="pt-BR" dirty="0"/>
              <a:t>Árvore de Decisão 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9</a:t>
            </a:fld>
            <a:endParaRPr lang="pt-BR" dirty="0"/>
          </a:p>
        </p:txBody>
      </p:sp>
      <p:sp>
        <p:nvSpPr>
          <p:cNvPr id="5" name="Espaço Reservado para Texto 5">
            <a:extLst>
              <a:ext uri="{FF2B5EF4-FFF2-40B4-BE49-F238E27FC236}">
                <a16:creationId xmlns:a16="http://schemas.microsoft.com/office/drawing/2014/main" id="{639DB63B-D73F-9785-6DDC-F54FF9E40315}"/>
              </a:ext>
            </a:extLst>
          </p:cNvPr>
          <p:cNvSpPr txBox="1">
            <a:spLocks/>
          </p:cNvSpPr>
          <p:nvPr/>
        </p:nvSpPr>
        <p:spPr>
          <a:xfrm>
            <a:off x="6955971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fora do tempo de treinamento</a:t>
            </a:r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B208C73B-C417-B000-7722-D8160582DF09}"/>
              </a:ext>
            </a:extLst>
          </p:cNvPr>
          <p:cNvSpPr txBox="1">
            <a:spLocks/>
          </p:cNvSpPr>
          <p:nvPr/>
        </p:nvSpPr>
        <p:spPr>
          <a:xfrm>
            <a:off x="728808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dentro do tempo de treinamento</a:t>
            </a:r>
          </a:p>
        </p:txBody>
      </p:sp>
      <p:graphicFrame>
        <p:nvGraphicFramePr>
          <p:cNvPr id="13" name="Tabela 50">
            <a:extLst>
              <a:ext uri="{FF2B5EF4-FFF2-40B4-BE49-F238E27FC236}">
                <a16:creationId xmlns:a16="http://schemas.microsoft.com/office/drawing/2014/main" id="{4DF54C6F-563E-475B-D83B-51B4EB7610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2823027"/>
              </p:ext>
            </p:extLst>
          </p:nvPr>
        </p:nvGraphicFramePr>
        <p:xfrm>
          <a:off x="120831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  <p:graphicFrame>
        <p:nvGraphicFramePr>
          <p:cNvPr id="15" name="Tabela 50">
            <a:extLst>
              <a:ext uri="{FF2B5EF4-FFF2-40B4-BE49-F238E27FC236}">
                <a16:creationId xmlns:a16="http://schemas.microsoft.com/office/drawing/2014/main" id="{7D5CE047-74AA-8519-ACD1-A04C982C09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9141258"/>
              </p:ext>
            </p:extLst>
          </p:nvPr>
        </p:nvGraphicFramePr>
        <p:xfrm>
          <a:off x="756364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81DDB142-086F-DEC1-2749-C49DBFCEB2AD}"/>
              </a:ext>
            </a:extLst>
          </p:cNvPr>
          <p:cNvSpPr txBox="1"/>
          <p:nvPr/>
        </p:nvSpPr>
        <p:spPr>
          <a:xfrm>
            <a:off x="4392386" y="2695830"/>
            <a:ext cx="3407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Apenas regiões de comunidades</a:t>
            </a:r>
          </a:p>
        </p:txBody>
      </p:sp>
    </p:spTree>
    <p:extLst>
      <p:ext uri="{BB962C8B-B14F-4D97-AF65-F5344CB8AC3E}">
        <p14:creationId xmlns:p14="http://schemas.microsoft.com/office/powerpoint/2010/main" val="1024672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rtlCol="0"/>
          <a:lstStyle/>
          <a:p>
            <a:pPr algn="ctr"/>
            <a:r>
              <a:rPr lang="pt-BR" dirty="0"/>
              <a:t>Árvore de Decisão 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10</a:t>
            </a:fld>
            <a:endParaRPr lang="pt-BR" dirty="0"/>
          </a:p>
        </p:txBody>
      </p:sp>
      <p:sp>
        <p:nvSpPr>
          <p:cNvPr id="5" name="Espaço Reservado para Texto 5">
            <a:extLst>
              <a:ext uri="{FF2B5EF4-FFF2-40B4-BE49-F238E27FC236}">
                <a16:creationId xmlns:a16="http://schemas.microsoft.com/office/drawing/2014/main" id="{639DB63B-D73F-9785-6DDC-F54FF9E40315}"/>
              </a:ext>
            </a:extLst>
          </p:cNvPr>
          <p:cNvSpPr txBox="1">
            <a:spLocks/>
          </p:cNvSpPr>
          <p:nvPr/>
        </p:nvSpPr>
        <p:spPr>
          <a:xfrm>
            <a:off x="6955971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fora do tempo de treinamento</a:t>
            </a:r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B208C73B-C417-B000-7722-D8160582DF09}"/>
              </a:ext>
            </a:extLst>
          </p:cNvPr>
          <p:cNvSpPr txBox="1">
            <a:spLocks/>
          </p:cNvSpPr>
          <p:nvPr/>
        </p:nvSpPr>
        <p:spPr>
          <a:xfrm>
            <a:off x="728808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dentro do tempo de treinamento</a:t>
            </a:r>
          </a:p>
        </p:txBody>
      </p:sp>
      <p:graphicFrame>
        <p:nvGraphicFramePr>
          <p:cNvPr id="13" name="Tabela 50">
            <a:extLst>
              <a:ext uri="{FF2B5EF4-FFF2-40B4-BE49-F238E27FC236}">
                <a16:creationId xmlns:a16="http://schemas.microsoft.com/office/drawing/2014/main" id="{4DF54C6F-563E-475B-D83B-51B4EB7610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0494905"/>
              </p:ext>
            </p:extLst>
          </p:nvPr>
        </p:nvGraphicFramePr>
        <p:xfrm>
          <a:off x="120831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  <p:graphicFrame>
        <p:nvGraphicFramePr>
          <p:cNvPr id="15" name="Tabela 50">
            <a:extLst>
              <a:ext uri="{FF2B5EF4-FFF2-40B4-BE49-F238E27FC236}">
                <a16:creationId xmlns:a16="http://schemas.microsoft.com/office/drawing/2014/main" id="{7D5CE047-74AA-8519-ACD1-A04C982C09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9501992"/>
              </p:ext>
            </p:extLst>
          </p:nvPr>
        </p:nvGraphicFramePr>
        <p:xfrm>
          <a:off x="756364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0,84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81DDB142-086F-DEC1-2749-C49DBFCEB2AD}"/>
              </a:ext>
            </a:extLst>
          </p:cNvPr>
          <p:cNvSpPr txBox="1"/>
          <p:nvPr/>
        </p:nvSpPr>
        <p:spPr>
          <a:xfrm>
            <a:off x="4392386" y="2695830"/>
            <a:ext cx="4370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Apenas regiões fora de comunidades</a:t>
            </a:r>
          </a:p>
        </p:txBody>
      </p:sp>
    </p:spTree>
    <p:extLst>
      <p:ext uri="{BB962C8B-B14F-4D97-AF65-F5344CB8AC3E}">
        <p14:creationId xmlns:p14="http://schemas.microsoft.com/office/powerpoint/2010/main" val="900232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rtlCol="0"/>
          <a:lstStyle/>
          <a:p>
            <a:pPr algn="ctr"/>
            <a:r>
              <a:rPr lang="pt-BR" dirty="0"/>
              <a:t>Floresta de Decisão 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11</a:t>
            </a:fld>
            <a:endParaRPr lang="pt-BR" dirty="0"/>
          </a:p>
        </p:txBody>
      </p:sp>
      <p:sp>
        <p:nvSpPr>
          <p:cNvPr id="22" name="Espaço Reservado para Conteúdo 6">
            <a:extLst>
              <a:ext uri="{FF2B5EF4-FFF2-40B4-BE49-F238E27FC236}">
                <a16:creationId xmlns:a16="http://schemas.microsoft.com/office/drawing/2014/main" id="{09C0BF0F-D768-092D-95F2-836CEA79D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2922025"/>
            <a:ext cx="10515600" cy="32501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Optou-se por utilizar um modelo mais robusto, porém sem oferecer insights sobre as variáveis. A Floresta de Decisão é um modelo frequentemente mencionado em artigos sobre previsão de deslizamentos de terra.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modelo cria uma combinação de árvores de decisão para fornecer previsões.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Novamente, para avaliar a evolução do modelo, foi aplicado o método de janela deslizante, criando um modelo preditivo para cada janela.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dirty="0">
              <a:solidFill>
                <a:srgbClr val="374151"/>
              </a:solidFill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Foram realizados dois modelos, um utilizando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Oversampling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Smote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e outro não.</a:t>
            </a:r>
          </a:p>
        </p:txBody>
      </p:sp>
    </p:spTree>
    <p:extLst>
      <p:ext uri="{BB962C8B-B14F-4D97-AF65-F5344CB8AC3E}">
        <p14:creationId xmlns:p14="http://schemas.microsoft.com/office/powerpoint/2010/main" val="630217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rtlCol="0"/>
          <a:lstStyle/>
          <a:p>
            <a:pPr algn="ctr"/>
            <a:r>
              <a:rPr lang="pt-BR" dirty="0"/>
              <a:t>Floresta de Decisão 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12</a:t>
            </a:fld>
            <a:endParaRPr lang="pt-BR" dirty="0"/>
          </a:p>
        </p:txBody>
      </p:sp>
      <p:sp>
        <p:nvSpPr>
          <p:cNvPr id="5" name="Espaço Reservado para Texto 5">
            <a:extLst>
              <a:ext uri="{FF2B5EF4-FFF2-40B4-BE49-F238E27FC236}">
                <a16:creationId xmlns:a16="http://schemas.microsoft.com/office/drawing/2014/main" id="{639DB63B-D73F-9785-6DDC-F54FF9E40315}"/>
              </a:ext>
            </a:extLst>
          </p:cNvPr>
          <p:cNvSpPr txBox="1">
            <a:spLocks/>
          </p:cNvSpPr>
          <p:nvPr/>
        </p:nvSpPr>
        <p:spPr>
          <a:xfrm>
            <a:off x="6955971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fora do tempo de treinamento</a:t>
            </a:r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B208C73B-C417-B000-7722-D8160582DF09}"/>
              </a:ext>
            </a:extLst>
          </p:cNvPr>
          <p:cNvSpPr txBox="1">
            <a:spLocks/>
          </p:cNvSpPr>
          <p:nvPr/>
        </p:nvSpPr>
        <p:spPr>
          <a:xfrm>
            <a:off x="728808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dentro do tempo de treinamento</a:t>
            </a:r>
          </a:p>
        </p:txBody>
      </p:sp>
      <p:graphicFrame>
        <p:nvGraphicFramePr>
          <p:cNvPr id="13" name="Tabela 50">
            <a:extLst>
              <a:ext uri="{FF2B5EF4-FFF2-40B4-BE49-F238E27FC236}">
                <a16:creationId xmlns:a16="http://schemas.microsoft.com/office/drawing/2014/main" id="{4DF54C6F-563E-475B-D83B-51B4EB7610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6462549"/>
              </p:ext>
            </p:extLst>
          </p:nvPr>
        </p:nvGraphicFramePr>
        <p:xfrm>
          <a:off x="120831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  <p:graphicFrame>
        <p:nvGraphicFramePr>
          <p:cNvPr id="15" name="Tabela 50">
            <a:extLst>
              <a:ext uri="{FF2B5EF4-FFF2-40B4-BE49-F238E27FC236}">
                <a16:creationId xmlns:a16="http://schemas.microsoft.com/office/drawing/2014/main" id="{7D5CE047-74AA-8519-ACD1-A04C982C09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9166495"/>
              </p:ext>
            </p:extLst>
          </p:nvPr>
        </p:nvGraphicFramePr>
        <p:xfrm>
          <a:off x="756364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0,85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6470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rtlCol="0"/>
          <a:lstStyle/>
          <a:p>
            <a:pPr algn="ctr"/>
            <a:r>
              <a:rPr lang="pt-BR" dirty="0"/>
              <a:t>Floresta de Decisão 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13</a:t>
            </a:fld>
            <a:endParaRPr lang="pt-BR" dirty="0"/>
          </a:p>
        </p:txBody>
      </p:sp>
      <p:sp>
        <p:nvSpPr>
          <p:cNvPr id="5" name="Espaço Reservado para Texto 5">
            <a:extLst>
              <a:ext uri="{FF2B5EF4-FFF2-40B4-BE49-F238E27FC236}">
                <a16:creationId xmlns:a16="http://schemas.microsoft.com/office/drawing/2014/main" id="{639DB63B-D73F-9785-6DDC-F54FF9E40315}"/>
              </a:ext>
            </a:extLst>
          </p:cNvPr>
          <p:cNvSpPr txBox="1">
            <a:spLocks/>
          </p:cNvSpPr>
          <p:nvPr/>
        </p:nvSpPr>
        <p:spPr>
          <a:xfrm>
            <a:off x="6955971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fora do tempo de treinamento</a:t>
            </a:r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B208C73B-C417-B000-7722-D8160582DF09}"/>
              </a:ext>
            </a:extLst>
          </p:cNvPr>
          <p:cNvSpPr txBox="1">
            <a:spLocks/>
          </p:cNvSpPr>
          <p:nvPr/>
        </p:nvSpPr>
        <p:spPr>
          <a:xfrm>
            <a:off x="728808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dentro do tempo de treinamento</a:t>
            </a:r>
          </a:p>
        </p:txBody>
      </p:sp>
      <p:graphicFrame>
        <p:nvGraphicFramePr>
          <p:cNvPr id="13" name="Tabela 50">
            <a:extLst>
              <a:ext uri="{FF2B5EF4-FFF2-40B4-BE49-F238E27FC236}">
                <a16:creationId xmlns:a16="http://schemas.microsoft.com/office/drawing/2014/main" id="{4DF54C6F-563E-475B-D83B-51B4EB7610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4090214"/>
              </p:ext>
            </p:extLst>
          </p:nvPr>
        </p:nvGraphicFramePr>
        <p:xfrm>
          <a:off x="120831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0,77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  <p:graphicFrame>
        <p:nvGraphicFramePr>
          <p:cNvPr id="15" name="Tabela 50">
            <a:extLst>
              <a:ext uri="{FF2B5EF4-FFF2-40B4-BE49-F238E27FC236}">
                <a16:creationId xmlns:a16="http://schemas.microsoft.com/office/drawing/2014/main" id="{7D5CE047-74AA-8519-ACD1-A04C982C09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802399"/>
              </p:ext>
            </p:extLst>
          </p:nvPr>
        </p:nvGraphicFramePr>
        <p:xfrm>
          <a:off x="756364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0,17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81DDB142-086F-DEC1-2749-C49DBFCEB2AD}"/>
              </a:ext>
            </a:extLst>
          </p:cNvPr>
          <p:cNvSpPr txBox="1"/>
          <p:nvPr/>
        </p:nvSpPr>
        <p:spPr>
          <a:xfrm>
            <a:off x="4814207" y="2665016"/>
            <a:ext cx="2563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Oversampling</a:t>
            </a:r>
            <a:r>
              <a:rPr lang="pt-BR" dirty="0"/>
              <a:t> SMOTE</a:t>
            </a:r>
          </a:p>
        </p:txBody>
      </p:sp>
    </p:spTree>
    <p:extLst>
      <p:ext uri="{BB962C8B-B14F-4D97-AF65-F5344CB8AC3E}">
        <p14:creationId xmlns:p14="http://schemas.microsoft.com/office/powerpoint/2010/main" val="969105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t-BR" dirty="0" err="1"/>
              <a:t>XGBoosting</a:t>
            </a:r>
            <a:endParaRPr lang="pt-BR" dirty="0"/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14</a:t>
            </a:fld>
            <a:endParaRPr lang="pt-BR" dirty="0"/>
          </a:p>
        </p:txBody>
      </p:sp>
      <p:sp>
        <p:nvSpPr>
          <p:cNvPr id="22" name="Espaço Reservado para Conteúdo 6">
            <a:extLst>
              <a:ext uri="{FF2B5EF4-FFF2-40B4-BE49-F238E27FC236}">
                <a16:creationId xmlns:a16="http://schemas.microsoft.com/office/drawing/2014/main" id="{09C0BF0F-D768-092D-95F2-836CEA79D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2922025"/>
            <a:ext cx="10515600" cy="32501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Um modelo mais robusto, que não é comumente utilizado em previsão de deslizamentos de terra.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É um algoritmo de aprendizado de máquina baseado em árvore de decisão e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gradient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boosting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, amplamente utilizado em competições no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Kaggle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Novamente, foi utilizado o método de janela deslizante para criar um modelo preditivo para cada janela e verificar sua evolução.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Foram realizados dois modelos, um utilizando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Oversampling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Smote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e outro não.</a:t>
            </a:r>
          </a:p>
        </p:txBody>
      </p:sp>
    </p:spTree>
    <p:extLst>
      <p:ext uri="{BB962C8B-B14F-4D97-AF65-F5344CB8AC3E}">
        <p14:creationId xmlns:p14="http://schemas.microsoft.com/office/powerpoint/2010/main" val="28547573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rtlCol="0"/>
          <a:lstStyle/>
          <a:p>
            <a:pPr algn="ctr"/>
            <a:r>
              <a:rPr lang="pt-BR" dirty="0" err="1"/>
              <a:t>XGBoosting</a:t>
            </a:r>
            <a:endParaRPr lang="pt-BR" dirty="0"/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15</a:t>
            </a:fld>
            <a:endParaRPr lang="pt-BR" dirty="0"/>
          </a:p>
        </p:txBody>
      </p:sp>
      <p:sp>
        <p:nvSpPr>
          <p:cNvPr id="5" name="Espaço Reservado para Texto 5">
            <a:extLst>
              <a:ext uri="{FF2B5EF4-FFF2-40B4-BE49-F238E27FC236}">
                <a16:creationId xmlns:a16="http://schemas.microsoft.com/office/drawing/2014/main" id="{639DB63B-D73F-9785-6DDC-F54FF9E40315}"/>
              </a:ext>
            </a:extLst>
          </p:cNvPr>
          <p:cNvSpPr txBox="1">
            <a:spLocks/>
          </p:cNvSpPr>
          <p:nvPr/>
        </p:nvSpPr>
        <p:spPr>
          <a:xfrm>
            <a:off x="6955971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fora do tempo de treinamento</a:t>
            </a:r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B208C73B-C417-B000-7722-D8160582DF09}"/>
              </a:ext>
            </a:extLst>
          </p:cNvPr>
          <p:cNvSpPr txBox="1">
            <a:spLocks/>
          </p:cNvSpPr>
          <p:nvPr/>
        </p:nvSpPr>
        <p:spPr>
          <a:xfrm>
            <a:off x="728808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dentro do tempo de treinamento</a:t>
            </a:r>
          </a:p>
        </p:txBody>
      </p:sp>
      <p:graphicFrame>
        <p:nvGraphicFramePr>
          <p:cNvPr id="13" name="Tabela 50">
            <a:extLst>
              <a:ext uri="{FF2B5EF4-FFF2-40B4-BE49-F238E27FC236}">
                <a16:creationId xmlns:a16="http://schemas.microsoft.com/office/drawing/2014/main" id="{4DF54C6F-563E-475B-D83B-51B4EB7610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98843570"/>
              </p:ext>
            </p:extLst>
          </p:nvPr>
        </p:nvGraphicFramePr>
        <p:xfrm>
          <a:off x="120831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  <p:graphicFrame>
        <p:nvGraphicFramePr>
          <p:cNvPr id="15" name="Tabela 50">
            <a:extLst>
              <a:ext uri="{FF2B5EF4-FFF2-40B4-BE49-F238E27FC236}">
                <a16:creationId xmlns:a16="http://schemas.microsoft.com/office/drawing/2014/main" id="{7D5CE047-74AA-8519-ACD1-A04C982C09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3953756"/>
              </p:ext>
            </p:extLst>
          </p:nvPr>
        </p:nvGraphicFramePr>
        <p:xfrm>
          <a:off x="756364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0203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rtlCol="0"/>
          <a:lstStyle/>
          <a:p>
            <a:pPr algn="ctr"/>
            <a:r>
              <a:rPr lang="pt-BR" dirty="0" err="1"/>
              <a:t>XGBoosting</a:t>
            </a:r>
            <a:endParaRPr lang="pt-BR" dirty="0"/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16</a:t>
            </a:fld>
            <a:endParaRPr lang="pt-BR" dirty="0"/>
          </a:p>
        </p:txBody>
      </p:sp>
      <p:sp>
        <p:nvSpPr>
          <p:cNvPr id="5" name="Espaço Reservado para Texto 5">
            <a:extLst>
              <a:ext uri="{FF2B5EF4-FFF2-40B4-BE49-F238E27FC236}">
                <a16:creationId xmlns:a16="http://schemas.microsoft.com/office/drawing/2014/main" id="{639DB63B-D73F-9785-6DDC-F54FF9E40315}"/>
              </a:ext>
            </a:extLst>
          </p:cNvPr>
          <p:cNvSpPr txBox="1">
            <a:spLocks/>
          </p:cNvSpPr>
          <p:nvPr/>
        </p:nvSpPr>
        <p:spPr>
          <a:xfrm>
            <a:off x="6955971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fora do tempo de treinamento</a:t>
            </a:r>
          </a:p>
        </p:txBody>
      </p:sp>
      <p:sp>
        <p:nvSpPr>
          <p:cNvPr id="7" name="Espaço Reservado para Texto 5">
            <a:extLst>
              <a:ext uri="{FF2B5EF4-FFF2-40B4-BE49-F238E27FC236}">
                <a16:creationId xmlns:a16="http://schemas.microsoft.com/office/drawing/2014/main" id="{B208C73B-C417-B000-7722-D8160582DF09}"/>
              </a:ext>
            </a:extLst>
          </p:cNvPr>
          <p:cNvSpPr txBox="1">
            <a:spLocks/>
          </p:cNvSpPr>
          <p:nvPr/>
        </p:nvSpPr>
        <p:spPr>
          <a:xfrm>
            <a:off x="728808" y="3017044"/>
            <a:ext cx="3918857" cy="8239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/>
              <a:t>Amostra de teste dentro do tempo de treinamento</a:t>
            </a:r>
          </a:p>
        </p:txBody>
      </p:sp>
      <p:graphicFrame>
        <p:nvGraphicFramePr>
          <p:cNvPr id="13" name="Tabela 50">
            <a:extLst>
              <a:ext uri="{FF2B5EF4-FFF2-40B4-BE49-F238E27FC236}">
                <a16:creationId xmlns:a16="http://schemas.microsoft.com/office/drawing/2014/main" id="{4DF54C6F-563E-475B-D83B-51B4EB7610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9207546"/>
              </p:ext>
            </p:extLst>
          </p:nvPr>
        </p:nvGraphicFramePr>
        <p:xfrm>
          <a:off x="120831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0,66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0,39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  <p:graphicFrame>
        <p:nvGraphicFramePr>
          <p:cNvPr id="15" name="Tabela 50">
            <a:extLst>
              <a:ext uri="{FF2B5EF4-FFF2-40B4-BE49-F238E27FC236}">
                <a16:creationId xmlns:a16="http://schemas.microsoft.com/office/drawing/2014/main" id="{7D5CE047-74AA-8519-ACD1-A04C982C09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7714772"/>
              </p:ext>
            </p:extLst>
          </p:nvPr>
        </p:nvGraphicFramePr>
        <p:xfrm>
          <a:off x="7563644" y="405356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0,90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0,02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0,08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0,03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81DDB142-086F-DEC1-2749-C49DBFCEB2AD}"/>
              </a:ext>
            </a:extLst>
          </p:cNvPr>
          <p:cNvSpPr txBox="1"/>
          <p:nvPr/>
        </p:nvSpPr>
        <p:spPr>
          <a:xfrm>
            <a:off x="4814207" y="2665016"/>
            <a:ext cx="2563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Oversampling</a:t>
            </a:r>
            <a:r>
              <a:rPr lang="pt-BR" dirty="0"/>
              <a:t> SMOTE</a:t>
            </a:r>
          </a:p>
        </p:txBody>
      </p:sp>
    </p:spTree>
    <p:extLst>
      <p:ext uri="{BB962C8B-B14F-4D97-AF65-F5344CB8AC3E}">
        <p14:creationId xmlns:p14="http://schemas.microsoft.com/office/powerpoint/2010/main" val="3884396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pt-BR" dirty="0"/>
              <a:t>LSTM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17</a:t>
            </a:fld>
            <a:endParaRPr lang="pt-BR" dirty="0"/>
          </a:p>
        </p:txBody>
      </p:sp>
      <p:sp>
        <p:nvSpPr>
          <p:cNvPr id="22" name="Espaço Reservado para Conteúdo 6">
            <a:extLst>
              <a:ext uri="{FF2B5EF4-FFF2-40B4-BE49-F238E27FC236}">
                <a16:creationId xmlns:a16="http://schemas.microsoft.com/office/drawing/2014/main" id="{09C0BF0F-D768-092D-95F2-836CEA79DD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1" y="2922025"/>
            <a:ext cx="10515600" cy="32501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Mudança na estrutura do modelo: incorporação das dimensões de espaço e tempo.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Escolha do modelo LSTM: rede neural recorrente com memória, ideal para previsão temporal.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O LSTM é capaz de reter informações de eventos passados e utilizá-las na previsão de eventos futuros, permitindo a incorporação de informações temporais na análise de dados.</a:t>
            </a:r>
          </a:p>
        </p:txBody>
      </p:sp>
    </p:spTree>
    <p:extLst>
      <p:ext uri="{BB962C8B-B14F-4D97-AF65-F5344CB8AC3E}">
        <p14:creationId xmlns:p14="http://schemas.microsoft.com/office/powerpoint/2010/main" val="2927322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892177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0FE22F9B-4BF8-41DC-8F1C-836B546E59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47665" y="1869966"/>
            <a:ext cx="2896671" cy="823912"/>
          </a:xfrm>
        </p:spPr>
        <p:txBody>
          <a:bodyPr rtlCol="0"/>
          <a:lstStyle/>
          <a:p>
            <a:pPr algn="ctr"/>
            <a:r>
              <a:rPr lang="pt-BR" dirty="0"/>
              <a:t>LSTM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18</a:t>
            </a:fld>
            <a:endParaRPr lang="pt-BR" dirty="0"/>
          </a:p>
        </p:txBody>
      </p:sp>
      <p:graphicFrame>
        <p:nvGraphicFramePr>
          <p:cNvPr id="13" name="Tabela 50">
            <a:extLst>
              <a:ext uri="{FF2B5EF4-FFF2-40B4-BE49-F238E27FC236}">
                <a16:creationId xmlns:a16="http://schemas.microsoft.com/office/drawing/2014/main" id="{4DF54C6F-563E-475B-D83B-51B4EB76102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085542"/>
              </p:ext>
            </p:extLst>
          </p:nvPr>
        </p:nvGraphicFramePr>
        <p:xfrm>
          <a:off x="1295400" y="3271904"/>
          <a:ext cx="2743200" cy="1640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991">
                  <a:extLst>
                    <a:ext uri="{9D8B030D-6E8A-4147-A177-3AD203B41FA5}">
                      <a16:colId xmlns:a16="http://schemas.microsoft.com/office/drawing/2014/main" val="544038161"/>
                    </a:ext>
                  </a:extLst>
                </a:gridCol>
                <a:gridCol w="1643209">
                  <a:extLst>
                    <a:ext uri="{9D8B030D-6E8A-4147-A177-3AD203B41FA5}">
                      <a16:colId xmlns:a16="http://schemas.microsoft.com/office/drawing/2014/main" val="2987712514"/>
                    </a:ext>
                  </a:extLst>
                </a:gridCol>
              </a:tblGrid>
              <a:tr h="350686"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noProof="0" dirty="0">
                          <a:solidFill>
                            <a:schemeClr val="bg1"/>
                          </a:solidFill>
                          <a:latin typeface="+mj-lt"/>
                        </a:rPr>
                        <a:t>Métrica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pt-BR" sz="1400" b="0" cap="all" spc="150" baseline="0" noProof="0" dirty="0">
                          <a:solidFill>
                            <a:schemeClr val="bg1"/>
                          </a:solidFill>
                          <a:latin typeface="+mj-lt"/>
                        </a:rPr>
                        <a:t>Resultado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65677"/>
                  </a:ext>
                </a:extLst>
              </a:tr>
              <a:tr h="309264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Acurácia: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137574"/>
                  </a:ext>
                </a:extLst>
              </a:tr>
              <a:tr h="337457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Precisão: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66435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Recall: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5712945"/>
                  </a:ext>
                </a:extLst>
              </a:tr>
              <a:tr h="337823">
                <a:tc>
                  <a:txBody>
                    <a:bodyPr/>
                    <a:lstStyle/>
                    <a:p>
                      <a:pPr algn="l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F1-Score: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679302"/>
                  </a:ext>
                </a:extLst>
              </a:tr>
            </a:tbl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81DDB142-086F-DEC1-2749-C49DBFCEB2AD}"/>
              </a:ext>
            </a:extLst>
          </p:cNvPr>
          <p:cNvSpPr txBox="1"/>
          <p:nvPr/>
        </p:nvSpPr>
        <p:spPr>
          <a:xfrm>
            <a:off x="4814207" y="2665016"/>
            <a:ext cx="2563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Resultados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EFA0ADD-7C1A-9775-8C46-4B20EDA76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614" y="3346558"/>
            <a:ext cx="2519844" cy="2750472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4F85F57A-4225-410D-6A53-9DDCCDDF3D88}"/>
              </a:ext>
            </a:extLst>
          </p:cNvPr>
          <p:cNvSpPr txBox="1"/>
          <p:nvPr/>
        </p:nvSpPr>
        <p:spPr>
          <a:xfrm>
            <a:off x="8308621" y="2902572"/>
            <a:ext cx="2111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Matriz de Confusão</a:t>
            </a:r>
          </a:p>
        </p:txBody>
      </p:sp>
    </p:spTree>
    <p:extLst>
      <p:ext uri="{BB962C8B-B14F-4D97-AF65-F5344CB8AC3E}">
        <p14:creationId xmlns:p14="http://schemas.microsoft.com/office/powerpoint/2010/main" val="1853302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 rtlCol="0"/>
          <a:lstStyle/>
          <a:p>
            <a:pPr rtl="0"/>
            <a:r>
              <a:rPr lang="pt-BR" dirty="0"/>
              <a:t>Próximos passos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18022" y="1538480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rtl="0"/>
            <a:r>
              <a:rPr lang="pt-BR" dirty="0"/>
              <a:t>Estações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19254" y="2032485"/>
            <a:ext cx="5431971" cy="686032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Analisar quais medidores possam estar afetando negativamente os resultados dos modelos.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19680" y="2931259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pt-BR" dirty="0"/>
              <a:t>Parâmetros</a:t>
            </a: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19254" y="3363603"/>
            <a:ext cx="5431971" cy="792802"/>
          </a:xfrm>
        </p:spPr>
        <p:txBody>
          <a:bodyPr rtlCol="0">
            <a:normAutofit/>
          </a:bodyPr>
          <a:lstStyle/>
          <a:p>
            <a:r>
              <a:rPr lang="pt-BR" dirty="0"/>
              <a:t>Explorar diferentes configurações de camadas e </a:t>
            </a:r>
            <a:r>
              <a:rPr lang="pt-BR" dirty="0" err="1"/>
              <a:t>hiperparâmetros</a:t>
            </a:r>
            <a:r>
              <a:rPr lang="pt-BR" dirty="0"/>
              <a:t>, com o objetivo de encontrar a melhor configuração possível para o modelo.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9680" y="4324038"/>
            <a:ext cx="5433204" cy="36512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pt-BR" dirty="0"/>
              <a:t>Modelos</a:t>
            </a:r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18022" y="4689163"/>
            <a:ext cx="5433204" cy="1560417"/>
          </a:xfrm>
        </p:spPr>
        <p:txBody>
          <a:bodyPr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pt-BR" sz="1300" dirty="0"/>
              <a:t> Outros modelos de </a:t>
            </a:r>
            <a:r>
              <a:rPr lang="pt-BR" sz="1300" dirty="0" err="1"/>
              <a:t>deep</a:t>
            </a:r>
            <a:r>
              <a:rPr lang="pt-BR" sz="1300" dirty="0"/>
              <a:t> </a:t>
            </a:r>
            <a:r>
              <a:rPr lang="pt-BR" sz="1300" dirty="0" err="1"/>
              <a:t>learning</a:t>
            </a:r>
            <a:r>
              <a:rPr lang="pt-BR" sz="1300" dirty="0"/>
              <a:t> também possuem a capacidade de reter informações relevantes, incluindo a classe de redes neurais GRU (</a:t>
            </a:r>
            <a:r>
              <a:rPr lang="pt-BR" sz="1300" dirty="0" err="1"/>
              <a:t>Gated</a:t>
            </a:r>
            <a:r>
              <a:rPr lang="pt-BR" sz="1300" dirty="0"/>
              <a:t> </a:t>
            </a:r>
            <a:r>
              <a:rPr lang="pt-BR" sz="1300" dirty="0" err="1"/>
              <a:t>Recurrent</a:t>
            </a:r>
            <a:r>
              <a:rPr lang="pt-BR" sz="1300" dirty="0"/>
              <a:t> </a:t>
            </a:r>
            <a:r>
              <a:rPr lang="pt-BR" sz="1300" dirty="0" err="1"/>
              <a:t>Units</a:t>
            </a:r>
            <a:r>
              <a:rPr lang="pt-BR" sz="1300" dirty="0"/>
              <a:t>).</a:t>
            </a:r>
          </a:p>
          <a:p>
            <a:pPr>
              <a:lnSpc>
                <a:spcPct val="110000"/>
              </a:lnSpc>
            </a:pPr>
            <a:r>
              <a:rPr lang="pt-BR" sz="1300" dirty="0"/>
              <a:t> Na literatura, é possível encontrar artigos que exploram o uso da técnica GRU para abordar problemas complexos de previsão de deslizamento de terra.</a:t>
            </a:r>
          </a:p>
        </p:txBody>
      </p:sp>
      <p:sp>
        <p:nvSpPr>
          <p:cNvPr id="20" name="Espaço Reservado para Data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 rtlCol="0"/>
          <a:lstStyle/>
          <a:p>
            <a:pPr rtl="0"/>
            <a:r>
              <a:rPr lang="pt-BR"/>
              <a:t>20XX</a:t>
            </a:r>
          </a:p>
        </p:txBody>
      </p:sp>
      <p:sp>
        <p:nvSpPr>
          <p:cNvPr id="21" name="Espaço Reservado para Rodapé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22" name="Espaço Reservado para o Número do Slide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3642" y="-392338"/>
            <a:ext cx="8421688" cy="1325563"/>
          </a:xfrm>
        </p:spPr>
        <p:txBody>
          <a:bodyPr rtlCol="0"/>
          <a:lstStyle/>
          <a:p>
            <a:pPr rtl="0"/>
            <a:r>
              <a:rPr lang="pt-BR" dirty="0"/>
              <a:t>Estações</a:t>
            </a:r>
          </a:p>
        </p:txBody>
      </p:sp>
      <p:sp>
        <p:nvSpPr>
          <p:cNvPr id="9" name="Espaço Reservado para Data 8">
            <a:extLst>
              <a:ext uri="{FF2B5EF4-FFF2-40B4-BE49-F238E27FC236}">
                <a16:creationId xmlns:a16="http://schemas.microsoft.com/office/drawing/2014/main" id="{7B78F7A0-88C5-4940-B21C-099F472F39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pt-BR" dirty="0"/>
              <a:t>20XX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186069-FC8E-433D-9BB4-942220CE8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11" name="Espaço Reservado para o Número do Slide 10">
            <a:extLst>
              <a:ext uri="{FF2B5EF4-FFF2-40B4-BE49-F238E27FC236}">
                <a16:creationId xmlns:a16="http://schemas.microsoft.com/office/drawing/2014/main" id="{BAD5B6F4-0A90-447A-A1AE-D75C934B6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20</a:t>
            </a:fld>
            <a:endParaRPr lang="pt-BR" dirty="0"/>
          </a:p>
        </p:txBody>
      </p:sp>
      <p:graphicFrame>
        <p:nvGraphicFramePr>
          <p:cNvPr id="8" name="Tabela 11">
            <a:extLst>
              <a:ext uri="{FF2B5EF4-FFF2-40B4-BE49-F238E27FC236}">
                <a16:creationId xmlns:a16="http://schemas.microsoft.com/office/drawing/2014/main" id="{CC2B45FC-1726-BE11-8952-00A23C106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551825"/>
              </p:ext>
            </p:extLst>
          </p:nvPr>
        </p:nvGraphicFramePr>
        <p:xfrm>
          <a:off x="838200" y="463110"/>
          <a:ext cx="3949587" cy="5931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987">
                  <a:extLst>
                    <a:ext uri="{9D8B030D-6E8A-4147-A177-3AD203B41FA5}">
                      <a16:colId xmlns:a16="http://schemas.microsoft.com/office/drawing/2014/main" val="211658206"/>
                    </a:ext>
                  </a:extLst>
                </a:gridCol>
                <a:gridCol w="1668617">
                  <a:extLst>
                    <a:ext uri="{9D8B030D-6E8A-4147-A177-3AD203B41FA5}">
                      <a16:colId xmlns:a16="http://schemas.microsoft.com/office/drawing/2014/main" val="4057421286"/>
                    </a:ext>
                  </a:extLst>
                </a:gridCol>
                <a:gridCol w="1607983">
                  <a:extLst>
                    <a:ext uri="{9D8B030D-6E8A-4147-A177-3AD203B41FA5}">
                      <a16:colId xmlns:a16="http://schemas.microsoft.com/office/drawing/2014/main" val="2979538628"/>
                    </a:ext>
                  </a:extLst>
                </a:gridCol>
              </a:tblGrid>
              <a:tr h="289195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Medidor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 dias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40514967"/>
                  </a:ext>
                </a:extLst>
              </a:tr>
              <a:tr h="185252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VÁRZEA DAS MOÇAS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36,0%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25457532"/>
                  </a:ext>
                </a:extLst>
              </a:tr>
              <a:tr h="1697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BONFIM 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79,9%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166111427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CORONEL LEÔNCIO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80,0%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0049300"/>
                  </a:ext>
                </a:extLst>
              </a:tr>
              <a:tr h="16978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MORRO DO ESTADO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80,7%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10346816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PREVENTÓRIO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81,2%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04374196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TRAVESSA BELTRÃO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84,4%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289395909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SANTA BÁRBARA 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84,6%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87601729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MORRO DO CASTRO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86,1%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22398068"/>
                  </a:ext>
                </a:extLst>
              </a:tr>
              <a:tr h="17827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BAIRRO DE FÁTIMA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87,6%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98873022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MORRO DO BUMBA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87,7%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65066599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IGREJINHA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88,6%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839025512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BARRETO 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89,5%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21616481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RIO DO OURO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95,4%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40114938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CAVALÃO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96,0%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8199723"/>
                  </a:ext>
                </a:extLst>
              </a:tr>
              <a:tr h="17827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PIRATININGA 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96,0%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06762750"/>
                  </a:ext>
                </a:extLst>
              </a:tr>
              <a:tr h="178271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513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MARIA PAULA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96,5%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51045171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BOA VISTA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97,3%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64060438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MACEIÓ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97,4%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01809397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TENENTE JARDIM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97,4%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80634342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507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ENGENHO DO MATO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97,8%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4398213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CARAMUJO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97,9%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8667777"/>
                  </a:ext>
                </a:extLst>
              </a:tr>
              <a:tr h="168933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514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MORRO DA PENHA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98,1%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1099528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JURUJUBA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98,6%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928859730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518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MORRO DO PALÁCIO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98,6%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72128529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520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PIRATININGA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98,7%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66519914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ITAIPÚ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98,8%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48436226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512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MARAVISTA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98,9%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27517540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525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SÃO FRANCISCO 1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99,1%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36274261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519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PÉ PEQUENO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99,6%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22348994"/>
                  </a:ext>
                </a:extLst>
              </a:tr>
              <a:tr h="166570"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526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SAPÊ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99,7%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48054108"/>
                  </a:ext>
                </a:extLst>
              </a:tr>
              <a:tr h="347625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883219"/>
                  </a:ext>
                </a:extLst>
              </a:tr>
            </a:tbl>
          </a:graphicData>
        </a:graphic>
      </p:graphicFrame>
      <p:pic>
        <p:nvPicPr>
          <p:cNvPr id="12" name="Imagem 11">
            <a:extLst>
              <a:ext uri="{FF2B5EF4-FFF2-40B4-BE49-F238E27FC236}">
                <a16:creationId xmlns:a16="http://schemas.microsoft.com/office/drawing/2014/main" id="{B23A6091-4035-AD65-2195-EEDCF9D0AC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543" y="1023605"/>
            <a:ext cx="4816257" cy="4549534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8B5CF50F-C93F-EE4E-EBA9-C4CCC32206BC}"/>
              </a:ext>
            </a:extLst>
          </p:cNvPr>
          <p:cNvSpPr/>
          <p:nvPr/>
        </p:nvSpPr>
        <p:spPr>
          <a:xfrm>
            <a:off x="10737669" y="3050178"/>
            <a:ext cx="426720" cy="2590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sz="1100"/>
              <a:t>529</a:t>
            </a:r>
          </a:p>
        </p:txBody>
      </p:sp>
    </p:spTree>
    <p:extLst>
      <p:ext uri="{BB962C8B-B14F-4D97-AF65-F5344CB8AC3E}">
        <p14:creationId xmlns:p14="http://schemas.microsoft.com/office/powerpoint/2010/main" val="2155620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41571" y="2268878"/>
            <a:ext cx="4179570" cy="1524735"/>
          </a:xfrm>
        </p:spPr>
        <p:txBody>
          <a:bodyPr rtlCol="0"/>
          <a:lstStyle/>
          <a:p>
            <a:pPr rtl="0"/>
            <a:r>
              <a:rPr lang="pt-BR" dirty="0" err="1"/>
              <a:t>OBRIGADa</a:t>
            </a: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2DA7980-C870-4C9A-84FA-4120D8AF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 rtlCol="0"/>
          <a:lstStyle/>
          <a:p>
            <a:pPr rtl="0"/>
            <a:r>
              <a:rPr lang="pt-BR"/>
              <a:t>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FADE42-1A3F-40C8-A071-E57644F3D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 rtlCol="0"/>
          <a:lstStyle/>
          <a:p>
            <a:pPr rtl="0"/>
            <a:r>
              <a:rPr lang="pt-BR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5EDCFF82-B70F-4971-9182-7C3AEA3C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Linha única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8898_TF22318419_Win32" id="{39789813-3D1F-4DB2-B0EB-7AB06FB22EC7}" vid="{8218E8E9-463F-47F5-9779-4296A87E01F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1E84A1C-2814-43A7-9448-348326113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5BA3906-9696-4247-AC0D-DD5C26B2A70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de vendas minimalista</Template>
  <TotalTime>694</TotalTime>
  <Words>1540</Words>
  <Application>Microsoft Office PowerPoint</Application>
  <PresentationFormat>Widescreen</PresentationFormat>
  <Paragraphs>517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6" baseType="lpstr">
      <vt:lpstr>Arial</vt:lpstr>
      <vt:lpstr>Calibri</vt:lpstr>
      <vt:lpstr>Söhne</vt:lpstr>
      <vt:lpstr>Tenorite</vt:lpstr>
      <vt:lpstr>Linha única</vt:lpstr>
      <vt:lpstr>Previsão de deslizamento DE TERRA</vt:lpstr>
      <vt:lpstr>Apresentação do PowerPoint</vt:lpstr>
      <vt:lpstr>Literatura</vt:lpstr>
      <vt:lpstr>Atributos</vt:lpstr>
      <vt:lpstr>Modelos</vt:lpstr>
      <vt:lpstr>Modelos</vt:lpstr>
      <vt:lpstr>Modelos</vt:lpstr>
      <vt:lpstr>Modelos</vt:lpstr>
      <vt:lpstr>Modelos</vt:lpstr>
      <vt:lpstr>Modelos</vt:lpstr>
      <vt:lpstr>Modelos</vt:lpstr>
      <vt:lpstr>Modelos</vt:lpstr>
      <vt:lpstr>Modelos</vt:lpstr>
      <vt:lpstr>Modelos</vt:lpstr>
      <vt:lpstr>Modelos</vt:lpstr>
      <vt:lpstr>Modelos</vt:lpstr>
      <vt:lpstr>Modelos</vt:lpstr>
      <vt:lpstr>Modelos</vt:lpstr>
      <vt:lpstr>Próximos passos</vt:lpstr>
      <vt:lpstr>Estações</vt:lpstr>
      <vt:lpstr>OBRIGADa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Previsão de deslizamento DE TERRA</dc:title>
  <dc:creator>Deborah Pereira</dc:creator>
  <cp:lastModifiedBy>Deborah Pereira</cp:lastModifiedBy>
  <cp:revision>3</cp:revision>
  <dcterms:created xsi:type="dcterms:W3CDTF">2023-04-04T12:49:45Z</dcterms:created>
  <dcterms:modified xsi:type="dcterms:W3CDTF">2023-04-05T00:24:00Z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